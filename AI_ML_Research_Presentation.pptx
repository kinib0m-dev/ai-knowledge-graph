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66"/>
    <p:restoredTop sz="94610"/>
  </p:normalViewPr>
  <p:slideViewPr>
    <p:cSldViewPr snapToGrid="0" snapToObjects="1">
      <p:cViewPr varScale="1">
        <p:scale>
          <a:sx n="213" d="100"/>
          <a:sy n="213" d="100"/>
        </p:scale>
        <p:origin x="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3437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AI/ML Research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2C39A"/>
                </a:solidFill>
              </a:rPr>
              <a:t>Knowledge Graph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i="1" dirty="0">
                <a:solidFill>
                  <a:srgbClr val="7FB3C8"/>
                </a:solidFill>
              </a:rPr>
              <a:t>Open Science &amp; AI in Research Software Engineering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090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B3C8"/>
                </a:solidFill>
              </a:rPr>
              <a:t>Universidad Politécnica de Madrid ·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0D2137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8" name="Text 6"/>
          <p:cNvSpPr/>
          <p:nvPr/>
        </p:nvSpPr>
        <p:spPr>
          <a:xfrm>
            <a:off x="594360" y="3749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</a:rPr>
              <a:t>Miembros del grupo
</a:t>
            </a:r>
            <a:endParaRPr lang="en-US" sz="1200" dirty="0"/>
          </a:p>
          <a:p>
            <a:pPr algn="ctr"/>
            <a:r>
              <a:rPr lang="en-US" sz="1300" dirty="0">
                <a:solidFill>
                  <a:srgbClr val="7FB3C8"/>
                </a:solidFill>
              </a:rPr>
              <a:t>Sergio Caro Rodríguez ·  </a:t>
            </a:r>
            <a:r>
              <a:rPr lang="en-US" sz="1300" dirty="0" err="1">
                <a:solidFill>
                  <a:srgbClr val="7FB3C8"/>
                </a:solidFill>
              </a:rPr>
              <a:t>Huangkai</a:t>
            </a:r>
            <a:r>
              <a:rPr lang="en-US" sz="1300" dirty="0">
                <a:solidFill>
                  <a:srgbClr val="7FB3C8"/>
                </a:solidFill>
              </a:rPr>
              <a:t> Chen  ·  Víctor Pérez García  ·  Diego García Rebate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</a:rPr>
              <a:t>Problema y Objetivo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30 artículos clave de IA/ML. ¿Qué los conecta?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651760" cy="2560320"/>
          </a:xfrm>
          <a:prstGeom prst="rect">
            <a:avLst/>
          </a:prstGeom>
          <a:solidFill>
            <a:srgbClr val="0D2137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6" name="Text 4"/>
          <p:cNvSpPr/>
          <p:nvPr/>
        </p:nvSpPr>
        <p:spPr>
          <a:xfrm>
            <a:off x="502920" y="1572768"/>
            <a:ext cx="2377440" cy="2340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El problema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Los artículos existen de forma </a:t>
            </a:r>
            <a:r>
              <a:rPr lang="en-US" sz="1100" dirty="0" err="1">
                <a:solidFill>
                  <a:srgbClr val="FFFFFF"/>
                </a:solidFill>
              </a:rPr>
              <a:t>aislada</a:t>
            </a:r>
            <a:r>
              <a:rPr lang="en-US" sz="1100" dirty="0">
                <a:solidFill>
                  <a:srgbClr val="FFFFFF"/>
                </a:solidFill>
              </a:rPr>
              <a:t>, sin enlaces entre temas, autores, financiación o trabajos relacionados.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1463040"/>
            <a:ext cx="2651760" cy="2560320"/>
          </a:xfrm>
          <a:prstGeom prst="rect">
            <a:avLst/>
          </a:prstGeom>
          <a:solidFill>
            <a:srgbClr val="0D2137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8" name="Text 6"/>
          <p:cNvSpPr/>
          <p:nvPr/>
        </p:nvSpPr>
        <p:spPr>
          <a:xfrm>
            <a:off x="3337560" y="1572768"/>
            <a:ext cx="2377440" cy="2340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Nuestro objetivo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Construir un Knowledge Graph en RDF consultable que agrupe, conecte y enriquezca los artículos.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463040"/>
            <a:ext cx="2651760" cy="2560320"/>
          </a:xfrm>
          <a:prstGeom prst="rect">
            <a:avLst/>
          </a:prstGeom>
          <a:solidFill>
            <a:srgbClr val="0D2137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10" name="Text 8"/>
          <p:cNvSpPr/>
          <p:nvPr/>
        </p:nvSpPr>
        <p:spPr>
          <a:xfrm>
            <a:off x="6172200" y="1572768"/>
            <a:ext cx="2377440" cy="2340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Cómo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Modelos NLP (tema, similitud, NER) + APIs externas (OpenAlex, Wikidata) + endpoint SPARQL.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251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FB3C8"/>
                </a:solidFill>
              </a:rPr>
              <a:t>Pipeline: PDFs → Grobid → Modelos HuggingFace → RDF → Fuseki → Streamlit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</a:rPr>
              <a:t>Datos y Procesamiento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</a:rPr>
              <a:t>Corpus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30 artículos de ArXiv (IA/ML clave)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</a:rPr>
              <a:t>LLMs &amp; Transformers (Attention, BERT, GPT-3, LLaMA…)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</a:rPr>
              <a:t>Visión por Computador (ResNet, ViT, YOLO, U-Net…)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</a:rPr>
              <a:t>Modelos Generativos (GANs, Diffusion, DALL-E…)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</a:rPr>
              <a:t>RL (DQN, PPO, Decision Transformer)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</a:rPr>
              <a:t>Multimodal (CLIP, BLIP-2, LLaVA)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</a:rPr>
              <a:t>AI Ethics &amp; Safety (Constitutional AI, Fairness…)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822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</a:rPr>
              <a:t>Procesamiento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1234440"/>
            <a:ext cx="4023360" cy="804672"/>
          </a:xfrm>
          <a:prstGeom prst="rect">
            <a:avLst/>
          </a:prstGeom>
          <a:solidFill>
            <a:srgbClr val="0D2137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8" name="Text 6"/>
          <p:cNvSpPr/>
          <p:nvPr/>
        </p:nvSpPr>
        <p:spPr>
          <a:xfrm>
            <a:off x="4892040" y="1344168"/>
            <a:ext cx="374904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7FB3C8"/>
                </a:solidFill>
              </a:rPr>
              <a:t>1. Descarga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PDFs de ArXiv vía API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2130552"/>
            <a:ext cx="4023360" cy="804672"/>
          </a:xfrm>
          <a:prstGeom prst="rect">
            <a:avLst/>
          </a:prstGeom>
          <a:solidFill>
            <a:srgbClr val="0D2137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10" name="Text 8"/>
          <p:cNvSpPr/>
          <p:nvPr/>
        </p:nvSpPr>
        <p:spPr>
          <a:xfrm>
            <a:off x="4892040" y="2240280"/>
            <a:ext cx="374904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7FB3C8"/>
                </a:solidFill>
              </a:rPr>
              <a:t>2. Grobid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TEI XML → título, resumen, autores, agradecimientos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3026664"/>
            <a:ext cx="4023360" cy="804672"/>
          </a:xfrm>
          <a:prstGeom prst="rect">
            <a:avLst/>
          </a:prstGeom>
          <a:solidFill>
            <a:srgbClr val="0D2137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12" name="Text 10"/>
          <p:cNvSpPr/>
          <p:nvPr/>
        </p:nvSpPr>
        <p:spPr>
          <a:xfrm>
            <a:off x="4892040" y="3136392"/>
            <a:ext cx="374904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7FB3C8"/>
                </a:solidFill>
              </a:rPr>
              <a:t>3. Gold standard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10 artículos anotados manualmente para evaluación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3922776"/>
            <a:ext cx="4023360" cy="804672"/>
          </a:xfrm>
          <a:prstGeom prst="rect">
            <a:avLst/>
          </a:prstGeom>
          <a:solidFill>
            <a:srgbClr val="0D2137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14" name="Text 12"/>
          <p:cNvSpPr/>
          <p:nvPr/>
        </p:nvSpPr>
        <p:spPr>
          <a:xfrm>
            <a:off x="4892040" y="4032504"/>
            <a:ext cx="374904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7FB3C8"/>
                </a:solidFill>
              </a:rPr>
              <a:t>4. Modelos NLP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Tema, similitud, NER vía HuggingFace Inference API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</a:rPr>
              <a:t>Knowledge Graph. </a:t>
            </a:r>
            <a:r>
              <a:rPr lang="en-US" sz="2000" b="1" dirty="0" err="1">
                <a:solidFill>
                  <a:srgbClr val="02C39A"/>
                </a:solidFill>
              </a:rPr>
              <a:t>Ontología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Clases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1828800" cy="38404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ex:Paper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73352"/>
            <a:ext cx="1828800" cy="384048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8" name="Text 6"/>
          <p:cNvSpPr/>
          <p:nvPr/>
        </p:nvSpPr>
        <p:spPr>
          <a:xfrm>
            <a:off x="365760" y="16733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foaf:Person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76272"/>
            <a:ext cx="1828800" cy="384048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0" name="Text 8"/>
          <p:cNvSpPr/>
          <p:nvPr/>
        </p:nvSpPr>
        <p:spPr>
          <a:xfrm>
            <a:off x="365760" y="21762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org:Organization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679192"/>
            <a:ext cx="1828800" cy="38404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2" name="Text 10"/>
          <p:cNvSpPr/>
          <p:nvPr/>
        </p:nvSpPr>
        <p:spPr>
          <a:xfrm>
            <a:off x="365760" y="26791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skos:Concept (Topic)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182112"/>
            <a:ext cx="1828800" cy="384048"/>
          </a:xfrm>
          <a:prstGeom prst="rect">
            <a:avLst/>
          </a:prstGeom>
          <a:solidFill>
            <a:srgbClr val="7FB3C8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4" name="Text 12"/>
          <p:cNvSpPr/>
          <p:nvPr/>
        </p:nvSpPr>
        <p:spPr>
          <a:xfrm>
            <a:off x="365760" y="31821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ex:SimilarityStatement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77724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Propiedades clave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68880" y="1170432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ex:belongsToTopic  </a:t>
            </a:r>
            <a:r>
              <a:rPr lang="en-US" sz="1100" dirty="0">
                <a:solidFill>
                  <a:srgbClr val="E8F4F8"/>
                </a:solidFill>
              </a:rPr>
              <a:t>Paper → Topic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68880" y="1581912"/>
            <a:ext cx="6400800" cy="0"/>
          </a:xfrm>
          <a:prstGeom prst="line">
            <a:avLst/>
          </a:prstGeom>
          <a:noFill/>
          <a:ln w="6350">
            <a:solidFill>
              <a:srgbClr val="2A3F52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18" name="Text 16"/>
          <p:cNvSpPr/>
          <p:nvPr/>
        </p:nvSpPr>
        <p:spPr>
          <a:xfrm>
            <a:off x="2468880" y="1673352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ex:similarTo + ex:similarityScore  </a:t>
            </a:r>
            <a:r>
              <a:rPr lang="en-US" sz="1100" dirty="0">
                <a:solidFill>
                  <a:srgbClr val="E8F4F8"/>
                </a:solidFill>
              </a:rPr>
              <a:t>Paper → Paper (reified with score)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68880" y="2084832"/>
            <a:ext cx="6400800" cy="0"/>
          </a:xfrm>
          <a:prstGeom prst="line">
            <a:avLst/>
          </a:prstGeom>
          <a:noFill/>
          <a:ln w="6350">
            <a:solidFill>
              <a:srgbClr val="2A3F52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20" name="Text 18"/>
          <p:cNvSpPr/>
          <p:nvPr/>
        </p:nvSpPr>
        <p:spPr>
          <a:xfrm>
            <a:off x="2468880" y="2176272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ex:acknowledges  </a:t>
            </a:r>
            <a:r>
              <a:rPr lang="en-US" sz="1100" dirty="0">
                <a:solidFill>
                  <a:srgbClr val="E8F4F8"/>
                </a:solidFill>
              </a:rPr>
              <a:t>Paper → Person / Organization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468880" y="2587752"/>
            <a:ext cx="6400800" cy="0"/>
          </a:xfrm>
          <a:prstGeom prst="line">
            <a:avLst/>
          </a:prstGeom>
          <a:noFill/>
          <a:ln w="6350">
            <a:solidFill>
              <a:srgbClr val="2A3F52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22" name="Text 20"/>
          <p:cNvSpPr/>
          <p:nvPr/>
        </p:nvSpPr>
        <p:spPr>
          <a:xfrm>
            <a:off x="2468880" y="2679192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dc:title, dc:date, dc:creator  </a:t>
            </a:r>
            <a:r>
              <a:rPr lang="en-US" sz="1100" dirty="0">
                <a:solidFill>
                  <a:srgbClr val="E8F4F8"/>
                </a:solidFill>
              </a:rPr>
              <a:t>Metadatos del artículo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68880" y="3090672"/>
            <a:ext cx="6400800" cy="0"/>
          </a:xfrm>
          <a:prstGeom prst="line">
            <a:avLst/>
          </a:prstGeom>
          <a:noFill/>
          <a:ln w="6350">
            <a:solidFill>
              <a:srgbClr val="2A3F52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24" name="Text 22"/>
          <p:cNvSpPr/>
          <p:nvPr/>
        </p:nvSpPr>
        <p:spPr>
          <a:xfrm>
            <a:off x="2468880" y="3182112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ex:citationCount, ex:venue  </a:t>
            </a:r>
            <a:r>
              <a:rPr lang="en-US" sz="1100" dirty="0">
                <a:solidFill>
                  <a:srgbClr val="E8F4F8"/>
                </a:solidFill>
              </a:rPr>
              <a:t>De la API </a:t>
            </a:r>
            <a:r>
              <a:rPr lang="en-US" sz="1100" dirty="0" err="1">
                <a:solidFill>
                  <a:srgbClr val="E8F4F8"/>
                </a:solidFill>
              </a:rPr>
              <a:t>OpenAlex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468880" y="3593592"/>
            <a:ext cx="6400800" cy="0"/>
          </a:xfrm>
          <a:prstGeom prst="line">
            <a:avLst/>
          </a:prstGeom>
          <a:noFill/>
          <a:ln w="6350">
            <a:solidFill>
              <a:srgbClr val="2A3F52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26" name="Text 24"/>
          <p:cNvSpPr/>
          <p:nvPr/>
        </p:nvSpPr>
        <p:spPr>
          <a:xfrm>
            <a:off x="2468880" y="3685032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ex:country, foaf:homepage  </a:t>
            </a:r>
            <a:r>
              <a:rPr lang="en-US" sz="1100" dirty="0">
                <a:solidFill>
                  <a:srgbClr val="E8F4F8"/>
                </a:solidFill>
              </a:rPr>
              <a:t>De </a:t>
            </a:r>
            <a:r>
              <a:rPr lang="en-US" sz="1100" dirty="0" err="1">
                <a:solidFill>
                  <a:srgbClr val="E8F4F8"/>
                </a:solidFill>
              </a:rPr>
              <a:t>Wikidata</a:t>
            </a:r>
            <a:r>
              <a:rPr lang="en-US" sz="1100" dirty="0">
                <a:solidFill>
                  <a:srgbClr val="E8F4F8"/>
                </a:solidFill>
              </a:rPr>
              <a:t> SPARQL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</a:rPr>
              <a:t>Decisiones de Modelos y Evaluación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FB3C8"/>
                </a:solidFill>
              </a:rPr>
              <a:t>Todos los modelos evaluados contra un gold standard de 10 artículos antes de ejecutar en el corpus completo.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1078992"/>
          </a:xfrm>
          <a:prstGeom prst="rect">
            <a:avLst/>
          </a:prstGeom>
          <a:solidFill>
            <a:srgbClr val="0D213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73152" cy="107899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7" name="Text 5"/>
          <p:cNvSpPr/>
          <p:nvPr/>
        </p:nvSpPr>
        <p:spPr>
          <a:xfrm>
            <a:off x="548640" y="13533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NER  </a:t>
            </a:r>
            <a:r>
              <a:rPr lang="en-US" sz="1300" b="1" dirty="0">
                <a:solidFill>
                  <a:srgbClr val="F59E0B"/>
                </a:solidFill>
              </a:rPr>
              <a:t>F1 = 0.469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</a:rPr>
              <a:t>✓ Jean-Baptiste/roberta-large-ner-english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B3C8"/>
                </a:solidFill>
              </a:rPr>
              <a:t>✗ dslim/bert-base-NER  (F1 = 0.264)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0848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F4F8"/>
                </a:solidFill>
              </a:rPr>
              <a:t>Extrae PER + ORG de los agradecimientos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8412480" cy="1078992"/>
          </a:xfrm>
          <a:prstGeom prst="rect">
            <a:avLst/>
          </a:prstGeom>
          <a:solidFill>
            <a:srgbClr val="0D213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12" name="Shape 10"/>
          <p:cNvSpPr/>
          <p:nvPr/>
        </p:nvSpPr>
        <p:spPr>
          <a:xfrm>
            <a:off x="365760" y="2468880"/>
            <a:ext cx="73152" cy="107899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3" name="Text 11"/>
          <p:cNvSpPr/>
          <p:nvPr/>
        </p:nvSpPr>
        <p:spPr>
          <a:xfrm>
            <a:off x="548640" y="2542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Topic  </a:t>
            </a:r>
            <a:r>
              <a:rPr lang="en-US" sz="1300" b="1" dirty="0">
                <a:solidFill>
                  <a:srgbClr val="F59E0B"/>
                </a:solidFill>
              </a:rPr>
              <a:t>Accuracy = 0.60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28346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</a:rPr>
              <a:t>✓ facebook/bart-large-mnli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063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B3C8"/>
                </a:solidFill>
              </a:rPr>
              <a:t>✗ typeform/distilbert-base-uncased-mnli  (Acc = 0.50)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27355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F4F8"/>
                </a:solidFill>
              </a:rPr>
              <a:t>Clasificación zero-shot sobre 6 etiquetas de tema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657600"/>
            <a:ext cx="8412480" cy="1078992"/>
          </a:xfrm>
          <a:prstGeom prst="rect">
            <a:avLst/>
          </a:prstGeom>
          <a:solidFill>
            <a:srgbClr val="0D213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18" name="Shape 16"/>
          <p:cNvSpPr/>
          <p:nvPr/>
        </p:nvSpPr>
        <p:spPr>
          <a:xfrm>
            <a:off x="365760" y="3657600"/>
            <a:ext cx="73152" cy="107899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9" name="Text 17"/>
          <p:cNvSpPr/>
          <p:nvPr/>
        </p:nvSpPr>
        <p:spPr>
          <a:xfrm>
            <a:off x="548640" y="37307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Similarity  </a:t>
            </a:r>
            <a:r>
              <a:rPr lang="en-US" sz="1300" b="1" dirty="0">
                <a:solidFill>
                  <a:srgbClr val="F59E0B"/>
                </a:solidFill>
              </a:rPr>
              <a:t>F1 = 0.364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4023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</a:rPr>
              <a:t>✓ sentence-transformers/all-mpnet-base-v2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251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B3C8"/>
                </a:solidFill>
              </a:rPr>
              <a:t>✗ all-MiniLM-L6-v2  (F1 = 0.25)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4622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F4F8"/>
                </a:solidFill>
              </a:rPr>
              <a:t>Similitud coseno, umbral 0.35, 178/406 pares por encima del umbral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</a:rPr>
              <a:t>Enriquecimiento con KGs Externos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 fuentes externas · 6 propiedades añadidas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023360" cy="2743200"/>
          </a:xfrm>
          <a:prstGeom prst="rect">
            <a:avLst/>
          </a:prstGeom>
          <a:solidFill>
            <a:srgbClr val="0D2137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6" name="Text 4"/>
          <p:cNvSpPr/>
          <p:nvPr/>
        </p:nvSpPr>
        <p:spPr>
          <a:xfrm>
            <a:off x="502920" y="13898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</a:rPr>
              <a:t>OpenAlex API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7190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B3C8"/>
                </a:solidFill>
              </a:rPr>
              <a:t>API REST · Sin clave necesaria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</a:rPr>
              <a:t>ex:citationCount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</a:rPr>
              <a:t>dc:date (year)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</a:rPr>
              <a:t>ex:venue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</a:rPr>
              <a:t>ex:openalexId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5204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B3C8"/>
                </a:solidFill>
              </a:rPr>
              <a:t>openalex.org/works/arxiv:{id}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4023360" cy="2743200"/>
          </a:xfrm>
          <a:prstGeom prst="rect">
            <a:avLst/>
          </a:prstGeom>
          <a:solidFill>
            <a:srgbClr val="0D2137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11" name="Text 9"/>
          <p:cNvSpPr/>
          <p:nvPr/>
        </p:nvSpPr>
        <p:spPr>
          <a:xfrm>
            <a:off x="4892040" y="13898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</a:rPr>
              <a:t>Wikidata SPARQL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92040" y="17190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B3C8"/>
                </a:solidFill>
              </a:rPr>
              <a:t>Fuente RDF · query.wikidata.org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201168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</a:rPr>
              <a:t>ex:country (of organization)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</a:rPr>
              <a:t>foaf:homepage (website)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3246120"/>
            <a:ext cx="4023360" cy="749808"/>
          </a:xfrm>
          <a:prstGeom prst="rect">
            <a:avLst/>
          </a:prstGeom>
          <a:solidFill>
            <a:srgbClr val="1A1200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5" name="Text 13"/>
          <p:cNvSpPr/>
          <p:nvPr/>
        </p:nvSpPr>
        <p:spPr>
          <a:xfrm>
            <a:off x="4892040" y="329184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⚠ </a:t>
            </a:r>
            <a:r>
              <a:rPr lang="en-US" sz="1000" dirty="0">
                <a:solidFill>
                  <a:srgbClr val="F59E0B"/>
                </a:solidFill>
              </a:rPr>
              <a:t>Wikidata SPARQL devolvió error 429 durante nuestra ejecución por una caída activa del servicio. El código de enriquecimiento está implementado y </a:t>
            </a:r>
            <a:r>
              <a:rPr lang="en-US" sz="1000" dirty="0" err="1">
                <a:solidFill>
                  <a:srgbClr val="F59E0B"/>
                </a:solidFill>
              </a:rPr>
              <a:t>probado</a:t>
            </a:r>
            <a:r>
              <a:rPr lang="en-US" sz="1000" dirty="0">
                <a:solidFill>
                  <a:srgbClr val="F59E0B"/>
                </a:solidFill>
              </a:rPr>
              <a:t>, los datos se cargarán cuando el servicio vuelva.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</a:rPr>
              <a:t>Buenas Prácticas de Open Science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60520" cy="914400"/>
          </a:xfrm>
          <a:prstGeom prst="rect">
            <a:avLst/>
          </a:prstGeom>
          <a:solidFill>
            <a:srgbClr val="0D213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64008" cy="9144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6" name="Text 4"/>
          <p:cNvSpPr/>
          <p:nvPr/>
        </p:nvSpPr>
        <p:spPr>
          <a:xfrm>
            <a:off x="530352" y="941832"/>
            <a:ext cx="38862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Contenedores
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Grobid (lfoppiano/grobid:0.8.2) + Fuseki (stain/jena-fuseki) vía Docker Compose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892808"/>
            <a:ext cx="4160520" cy="914400"/>
          </a:xfrm>
          <a:prstGeom prst="rect">
            <a:avLst/>
          </a:prstGeom>
          <a:solidFill>
            <a:srgbClr val="0D213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8" name="Shape 6"/>
          <p:cNvSpPr/>
          <p:nvPr/>
        </p:nvSpPr>
        <p:spPr>
          <a:xfrm>
            <a:off x="365760" y="1892808"/>
            <a:ext cx="64008" cy="9144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9" name="Text 7"/>
          <p:cNvSpPr/>
          <p:nvPr/>
        </p:nvSpPr>
        <p:spPr>
          <a:xfrm>
            <a:off x="530352" y="1965960"/>
            <a:ext cx="38862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Entornos
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Poetry con dependencias fijadas, package-mode = false, Python 3.11–3.14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916936"/>
            <a:ext cx="4160520" cy="914400"/>
          </a:xfrm>
          <a:prstGeom prst="rect">
            <a:avLst/>
          </a:prstGeom>
          <a:solidFill>
            <a:srgbClr val="0D213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11" name="Shape 9"/>
          <p:cNvSpPr/>
          <p:nvPr/>
        </p:nvSpPr>
        <p:spPr>
          <a:xfrm>
            <a:off x="365760" y="2916936"/>
            <a:ext cx="64008" cy="9144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2" name="Text 10"/>
          <p:cNvSpPr/>
          <p:nvPr/>
        </p:nvSpPr>
        <p:spPr>
          <a:xfrm>
            <a:off x="530352" y="2990088"/>
            <a:ext cx="38862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Procedencia (PROV)
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Registro PROV-O del pipeline completo (provenance/sample_run.ttl) con la librería prov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941064"/>
            <a:ext cx="4160520" cy="914400"/>
          </a:xfrm>
          <a:prstGeom prst="rect">
            <a:avLst/>
          </a:prstGeom>
          <a:solidFill>
            <a:srgbClr val="0D213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14" name="Shape 12"/>
          <p:cNvSpPr/>
          <p:nvPr/>
        </p:nvSpPr>
        <p:spPr>
          <a:xfrm>
            <a:off x="365760" y="3941064"/>
            <a:ext cx="64008" cy="9144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5" name="Text 13"/>
          <p:cNvSpPr/>
          <p:nvPr/>
        </p:nvSpPr>
        <p:spPr>
          <a:xfrm>
            <a:off x="530352" y="4014216"/>
            <a:ext cx="38862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RO-Crate
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Research Object que empaqueta scripts, datos, KG y provenance (ro-crate-metadata.json)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00600" y="868680"/>
            <a:ext cx="4160520" cy="914400"/>
          </a:xfrm>
          <a:prstGeom prst="rect">
            <a:avLst/>
          </a:prstGeom>
          <a:solidFill>
            <a:srgbClr val="0D213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17" name="Shape 15"/>
          <p:cNvSpPr/>
          <p:nvPr/>
        </p:nvSpPr>
        <p:spPr>
          <a:xfrm>
            <a:off x="4800600" y="868680"/>
            <a:ext cx="64008" cy="9144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8" name="Text 16"/>
          <p:cNvSpPr/>
          <p:nvPr/>
        </p:nvSpPr>
        <p:spPr>
          <a:xfrm>
            <a:off x="4965192" y="941832"/>
            <a:ext cx="38862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CITATION.cff
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Metadatos de citación legibles por máquina para el botón de GitHub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00600" y="1892808"/>
            <a:ext cx="4160520" cy="914400"/>
          </a:xfrm>
          <a:prstGeom prst="rect">
            <a:avLst/>
          </a:prstGeom>
          <a:solidFill>
            <a:srgbClr val="0D213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20" name="Shape 18"/>
          <p:cNvSpPr/>
          <p:nvPr/>
        </p:nvSpPr>
        <p:spPr>
          <a:xfrm>
            <a:off x="4800600" y="1892808"/>
            <a:ext cx="64008" cy="9144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21" name="Text 19"/>
          <p:cNvSpPr/>
          <p:nvPr/>
        </p:nvSpPr>
        <p:spPr>
          <a:xfrm>
            <a:off x="4965192" y="1965960"/>
            <a:ext cx="38862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CodeMeta
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Metadatos del software en esquema CodeMeta 2.0 (codemeta.json)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00600" y="2916936"/>
            <a:ext cx="4160520" cy="914400"/>
          </a:xfrm>
          <a:prstGeom prst="rect">
            <a:avLst/>
          </a:prstGeom>
          <a:solidFill>
            <a:srgbClr val="0D213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23" name="Shape 21"/>
          <p:cNvSpPr/>
          <p:nvPr/>
        </p:nvSpPr>
        <p:spPr>
          <a:xfrm>
            <a:off x="4800600" y="2916936"/>
            <a:ext cx="64008" cy="9144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24" name="Text 22"/>
          <p:cNvSpPr/>
          <p:nvPr/>
        </p:nvSpPr>
        <p:spPr>
          <a:xfrm>
            <a:off x="4965192" y="2990088"/>
            <a:ext cx="38862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Release
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Release v0.1.0 en GitHub con DOI de Zenodo para archivado permanente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00600" y="3941064"/>
            <a:ext cx="4160520" cy="914400"/>
          </a:xfrm>
          <a:prstGeom prst="rect">
            <a:avLst/>
          </a:prstGeom>
          <a:solidFill>
            <a:srgbClr val="0D213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26" name="Shape 24"/>
          <p:cNvSpPr/>
          <p:nvPr/>
        </p:nvSpPr>
        <p:spPr>
          <a:xfrm>
            <a:off x="4800600" y="3941064"/>
            <a:ext cx="64008" cy="9144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27" name="Text 25"/>
          <p:cNvSpPr/>
          <p:nvPr/>
        </p:nvSpPr>
        <p:spPr>
          <a:xfrm>
            <a:off x="4965192" y="4014216"/>
            <a:ext cx="38862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README
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Instrucciones de reproducibilidad completas, documentación de ontología, decisiones de modelos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</a:rPr>
              <a:t>Flujo del Pipeline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078992" cy="2926080"/>
          </a:xfrm>
          <a:prstGeom prst="rect">
            <a:avLst/>
          </a:prstGeom>
          <a:solidFill>
            <a:srgbClr val="0D2137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078992" cy="34747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1417320"/>
            <a:ext cx="9875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papers.py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2743200"/>
            <a:ext cx="9875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B3C8"/>
                </a:solidFill>
              </a:rPr>
              <a:t>Descarga 30 PDFs de ArXiv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362456" y="2468880"/>
            <a:ext cx="118872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10" name="Shape 8"/>
          <p:cNvSpPr/>
          <p:nvPr/>
        </p:nvSpPr>
        <p:spPr>
          <a:xfrm>
            <a:off x="1463040" y="1005840"/>
            <a:ext cx="1078992" cy="2926080"/>
          </a:xfrm>
          <a:prstGeom prst="rect">
            <a:avLst/>
          </a:prstGeom>
          <a:solidFill>
            <a:srgbClr val="0D2137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11" name="Shape 9"/>
          <p:cNvSpPr/>
          <p:nvPr/>
        </p:nvSpPr>
        <p:spPr>
          <a:xfrm>
            <a:off x="1463040" y="1005840"/>
            <a:ext cx="1078992" cy="34747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2" name="Text 10"/>
          <p:cNvSpPr/>
          <p:nvPr/>
        </p:nvSpPr>
        <p:spPr>
          <a:xfrm>
            <a:off x="1463040" y="100584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1417320"/>
            <a:ext cx="9875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grobid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.py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08760" y="2743200"/>
            <a:ext cx="9875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B3C8"/>
                </a:solidFill>
              </a:rPr>
              <a:t>Parsea PDF → TEI XML con Grobid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51176" y="2468880"/>
            <a:ext cx="118872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16" name="Shape 14"/>
          <p:cNvSpPr/>
          <p:nvPr/>
        </p:nvSpPr>
        <p:spPr>
          <a:xfrm>
            <a:off x="2651760" y="1005840"/>
            <a:ext cx="1078992" cy="2926080"/>
          </a:xfrm>
          <a:prstGeom prst="rect">
            <a:avLst/>
          </a:prstGeom>
          <a:solidFill>
            <a:srgbClr val="0D2137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17" name="Shape 15"/>
          <p:cNvSpPr/>
          <p:nvPr/>
        </p:nvSpPr>
        <p:spPr>
          <a:xfrm>
            <a:off x="2651760" y="1005840"/>
            <a:ext cx="1078992" cy="34747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8" name="Text 16"/>
          <p:cNvSpPr/>
          <p:nvPr/>
        </p:nvSpPr>
        <p:spPr>
          <a:xfrm>
            <a:off x="2651760" y="100584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697480" y="1417320"/>
            <a:ext cx="9875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eval.py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97480" y="2743200"/>
            <a:ext cx="9875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B3C8"/>
                </a:solidFill>
              </a:rPr>
              <a:t>Selecciona el mejor modelo por tarea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739896" y="2468880"/>
            <a:ext cx="118872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22" name="Shape 20"/>
          <p:cNvSpPr/>
          <p:nvPr/>
        </p:nvSpPr>
        <p:spPr>
          <a:xfrm>
            <a:off x="3840480" y="1005840"/>
            <a:ext cx="1078992" cy="2926080"/>
          </a:xfrm>
          <a:prstGeom prst="rect">
            <a:avLst/>
          </a:prstGeom>
          <a:solidFill>
            <a:srgbClr val="0D2137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23" name="Shape 21"/>
          <p:cNvSpPr/>
          <p:nvPr/>
        </p:nvSpPr>
        <p:spPr>
          <a:xfrm>
            <a:off x="3840480" y="1005840"/>
            <a:ext cx="1078992" cy="34747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24" name="Text 22"/>
          <p:cNvSpPr/>
          <p:nvPr/>
        </p:nvSpPr>
        <p:spPr>
          <a:xfrm>
            <a:off x="3840480" y="100584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886200" y="1417320"/>
            <a:ext cx="9875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ner / topics / sim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886200" y="2743200"/>
            <a:ext cx="9875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B3C8"/>
                </a:solidFill>
              </a:rPr>
              <a:t>Ejecuta NLP en los 30 artículos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928616" y="2468880"/>
            <a:ext cx="118872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28" name="Shape 26"/>
          <p:cNvSpPr/>
          <p:nvPr/>
        </p:nvSpPr>
        <p:spPr>
          <a:xfrm>
            <a:off x="5029200" y="1005840"/>
            <a:ext cx="1078992" cy="2926080"/>
          </a:xfrm>
          <a:prstGeom prst="rect">
            <a:avLst/>
          </a:prstGeom>
          <a:solidFill>
            <a:srgbClr val="0D2137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29" name="Shape 27"/>
          <p:cNvSpPr/>
          <p:nvPr/>
        </p:nvSpPr>
        <p:spPr>
          <a:xfrm>
            <a:off x="5029200" y="1005840"/>
            <a:ext cx="1078992" cy="34747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30" name="Text 28"/>
          <p:cNvSpPr/>
          <p:nvPr/>
        </p:nvSpPr>
        <p:spPr>
          <a:xfrm>
            <a:off x="5029200" y="100584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074920" y="1417320"/>
            <a:ext cx="9875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build_kg.py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74920" y="2743200"/>
            <a:ext cx="9875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B3C8"/>
                </a:solidFill>
              </a:rPr>
              <a:t>Construye RDF + enriquece con APIs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17336" y="2468880"/>
            <a:ext cx="118872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34" name="Shape 32"/>
          <p:cNvSpPr/>
          <p:nvPr/>
        </p:nvSpPr>
        <p:spPr>
          <a:xfrm>
            <a:off x="6217920" y="1005840"/>
            <a:ext cx="1078992" cy="2926080"/>
          </a:xfrm>
          <a:prstGeom prst="rect">
            <a:avLst/>
          </a:prstGeom>
          <a:solidFill>
            <a:srgbClr val="0D2137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35" name="Shape 33"/>
          <p:cNvSpPr/>
          <p:nvPr/>
        </p:nvSpPr>
        <p:spPr>
          <a:xfrm>
            <a:off x="6217920" y="1005840"/>
            <a:ext cx="1078992" cy="34747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36" name="Text 34"/>
          <p:cNvSpPr/>
          <p:nvPr/>
        </p:nvSpPr>
        <p:spPr>
          <a:xfrm>
            <a:off x="6217920" y="100584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263640" y="1417320"/>
            <a:ext cx="9875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Fuseki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63640" y="2743200"/>
            <a:ext cx="9875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B3C8"/>
                </a:solidFill>
              </a:rPr>
              <a:t>Carga TTL en endpoint SPARQL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306056" y="2468880"/>
            <a:ext cx="118872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40" name="Shape 38"/>
          <p:cNvSpPr/>
          <p:nvPr/>
        </p:nvSpPr>
        <p:spPr>
          <a:xfrm>
            <a:off x="7406640" y="1005840"/>
            <a:ext cx="1078992" cy="2926080"/>
          </a:xfrm>
          <a:prstGeom prst="rect">
            <a:avLst/>
          </a:prstGeom>
          <a:solidFill>
            <a:srgbClr val="0D2137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41" name="Shape 39"/>
          <p:cNvSpPr/>
          <p:nvPr/>
        </p:nvSpPr>
        <p:spPr>
          <a:xfrm>
            <a:off x="7406640" y="1005840"/>
            <a:ext cx="1078992" cy="34747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42" name="Text 40"/>
          <p:cNvSpPr/>
          <p:nvPr/>
        </p:nvSpPr>
        <p:spPr>
          <a:xfrm>
            <a:off x="7406640" y="100584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</a:rPr>
              <a:t>7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452360" y="1417320"/>
            <a:ext cx="9875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app.py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452360" y="2743200"/>
            <a:ext cx="9875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B3C8"/>
                </a:solidFill>
              </a:rPr>
              <a:t>Exploración interactiva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65760" y="4206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FB3C8"/>
                </a:solidFill>
              </a:rPr>
              <a:t>Todos los pasos reproducibles con `poetry run python scripts/&lt;script&gt;.py`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</a:rPr>
              <a:t>Resultados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965960" cy="1188720"/>
          </a:xfrm>
          <a:prstGeom prst="rect">
            <a:avLst/>
          </a:prstGeom>
          <a:solidFill>
            <a:srgbClr val="0D2137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</a:rPr>
              <a:t>30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B3C8"/>
                </a:solidFill>
              </a:rPr>
              <a:t>artículos procesados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777240"/>
            <a:ext cx="1965960" cy="1188720"/>
          </a:xfrm>
          <a:prstGeom prst="rect">
            <a:avLst/>
          </a:prstGeom>
          <a:solidFill>
            <a:srgbClr val="0D2137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8" name="Text 6"/>
          <p:cNvSpPr/>
          <p:nvPr/>
        </p:nvSpPr>
        <p:spPr>
          <a:xfrm>
            <a:off x="2514600" y="8229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</a:rPr>
              <a:t>2,151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514600" y="14173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B3C8"/>
                </a:solidFill>
              </a:rPr>
              <a:t>triples RDF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777240"/>
            <a:ext cx="1965960" cy="1188720"/>
          </a:xfrm>
          <a:prstGeom prst="rect">
            <a:avLst/>
          </a:prstGeom>
          <a:solidFill>
            <a:srgbClr val="0D2137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11" name="Text 9"/>
          <p:cNvSpPr/>
          <p:nvPr/>
        </p:nvSpPr>
        <p:spPr>
          <a:xfrm>
            <a:off x="4663440" y="8229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</a:rPr>
              <a:t>178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663440" y="14173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B3C8"/>
                </a:solidFill>
              </a:rPr>
              <a:t>pares similares (≥0.35)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12280" y="777240"/>
            <a:ext cx="1965960" cy="1188720"/>
          </a:xfrm>
          <a:prstGeom prst="rect">
            <a:avLst/>
          </a:prstGeom>
          <a:solidFill>
            <a:srgbClr val="0D2137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14" name="Text 12"/>
          <p:cNvSpPr/>
          <p:nvPr/>
        </p:nvSpPr>
        <p:spPr>
          <a:xfrm>
            <a:off x="6812280" y="8229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</a:rPr>
              <a:t>6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812280" y="14173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B3C8"/>
                </a:solidFill>
              </a:rPr>
              <a:t>grupos temáticos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148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Distribución por tema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578608"/>
            <a:ext cx="3474720" cy="292608"/>
          </a:xfrm>
          <a:prstGeom prst="rect">
            <a:avLst/>
          </a:prstGeom>
          <a:solidFill>
            <a:srgbClr val="2A3F52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8" name="Shape 16"/>
          <p:cNvSpPr/>
          <p:nvPr/>
        </p:nvSpPr>
        <p:spPr>
          <a:xfrm>
            <a:off x="365760" y="2578608"/>
            <a:ext cx="2432304" cy="29260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9" name="Text 17"/>
          <p:cNvSpPr/>
          <p:nvPr/>
        </p:nvSpPr>
        <p:spPr>
          <a:xfrm>
            <a:off x="3931920" y="257860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Modelos de Lenguaje  (7 papers)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971800"/>
            <a:ext cx="3474720" cy="292608"/>
          </a:xfrm>
          <a:prstGeom prst="rect">
            <a:avLst/>
          </a:prstGeom>
          <a:solidFill>
            <a:srgbClr val="2A3F52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21" name="Shape 19"/>
          <p:cNvSpPr/>
          <p:nvPr/>
        </p:nvSpPr>
        <p:spPr>
          <a:xfrm>
            <a:off x="365760" y="2971800"/>
            <a:ext cx="3474720" cy="2926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22" name="Text 20"/>
          <p:cNvSpPr/>
          <p:nvPr/>
        </p:nvSpPr>
        <p:spPr>
          <a:xfrm>
            <a:off x="3931920" y="297180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Optimización y Entrenamiento  (10 papers)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364992"/>
            <a:ext cx="3474720" cy="292608"/>
          </a:xfrm>
          <a:prstGeom prst="rect">
            <a:avLst/>
          </a:prstGeom>
          <a:solidFill>
            <a:srgbClr val="2A3F52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24" name="Shape 22"/>
          <p:cNvSpPr/>
          <p:nvPr/>
        </p:nvSpPr>
        <p:spPr>
          <a:xfrm>
            <a:off x="365760" y="3364992"/>
            <a:ext cx="1389888" cy="292608"/>
          </a:xfrm>
          <a:prstGeom prst="rect">
            <a:avLst/>
          </a:prstGeom>
          <a:solidFill>
            <a:srgbClr val="F28E2B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25" name="Text 23"/>
          <p:cNvSpPr/>
          <p:nvPr/>
        </p:nvSpPr>
        <p:spPr>
          <a:xfrm>
            <a:off x="3931920" y="336499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Visión por Computador  (4 papers)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758184"/>
            <a:ext cx="3474720" cy="292608"/>
          </a:xfrm>
          <a:prstGeom prst="rect">
            <a:avLst/>
          </a:prstGeom>
          <a:solidFill>
            <a:srgbClr val="2A3F52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27" name="Shape 25"/>
          <p:cNvSpPr/>
          <p:nvPr/>
        </p:nvSpPr>
        <p:spPr>
          <a:xfrm>
            <a:off x="365760" y="3758184"/>
            <a:ext cx="1389888" cy="292608"/>
          </a:xfrm>
          <a:prstGeom prst="rect">
            <a:avLst/>
          </a:prstGeom>
          <a:solidFill>
            <a:srgbClr val="E15759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28" name="Text 26"/>
          <p:cNvSpPr/>
          <p:nvPr/>
        </p:nvSpPr>
        <p:spPr>
          <a:xfrm>
            <a:off x="3931920" y="375818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Modelos Generativos  (4 papers)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151376"/>
            <a:ext cx="3474720" cy="292608"/>
          </a:xfrm>
          <a:prstGeom prst="rect">
            <a:avLst/>
          </a:prstGeom>
          <a:solidFill>
            <a:srgbClr val="2A3F52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30" name="Shape 28"/>
          <p:cNvSpPr/>
          <p:nvPr/>
        </p:nvSpPr>
        <p:spPr>
          <a:xfrm>
            <a:off x="365760" y="4151376"/>
            <a:ext cx="1042416" cy="292608"/>
          </a:xfrm>
          <a:prstGeom prst="rect">
            <a:avLst/>
          </a:prstGeom>
          <a:solidFill>
            <a:srgbClr val="76B7B2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31" name="Text 29"/>
          <p:cNvSpPr/>
          <p:nvPr/>
        </p:nvSpPr>
        <p:spPr>
          <a:xfrm>
            <a:off x="3931920" y="4151376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Aprendizaje por Refuerzo  (3 papers)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544568"/>
            <a:ext cx="3474720" cy="292608"/>
          </a:xfrm>
          <a:prstGeom prst="rect">
            <a:avLst/>
          </a:prstGeom>
          <a:solidFill>
            <a:srgbClr val="2A3F52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33" name="Shape 31"/>
          <p:cNvSpPr/>
          <p:nvPr/>
        </p:nvSpPr>
        <p:spPr>
          <a:xfrm>
            <a:off x="365760" y="4544568"/>
            <a:ext cx="347472" cy="292608"/>
          </a:xfrm>
          <a:prstGeom prst="rect">
            <a:avLst/>
          </a:prstGeom>
          <a:solidFill>
            <a:srgbClr val="EDC948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34" name="Text 32"/>
          <p:cNvSpPr/>
          <p:nvPr/>
        </p:nvSpPr>
        <p:spPr>
          <a:xfrm>
            <a:off x="3931920" y="454456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Seguridad y Ética en IA  (1 paper)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</a:rPr>
              <a:t>Demo y Resumen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</a:rPr>
              <a:t>Demo: Aplicación Streamlit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4160520" cy="1417320"/>
          </a:xfrm>
          <a:prstGeom prst="rect">
            <a:avLst/>
          </a:prstGeom>
          <a:solidFill>
            <a:srgbClr val="0D2137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3886200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Research Radar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Selecciona un artículo → muestra tema, año, venue, citas, artículos similares con puntuaciones y entidades reconocidas por NER.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00600" y="1261872"/>
            <a:ext cx="4160520" cy="1417320"/>
          </a:xfrm>
          <a:prstGeom prst="rect">
            <a:avLst/>
          </a:prstGeom>
          <a:solidFill>
            <a:srgbClr val="0D2137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8" name="Text 6"/>
          <p:cNvSpPr/>
          <p:nvPr/>
        </p:nvSpPr>
        <p:spPr>
          <a:xfrm>
            <a:off x="4937760" y="1371600"/>
            <a:ext cx="3886200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Landscape Explorer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Grafo de fuerza con todos los artículos, temas y organizaciones. Filtra por tipo de nodo y umbral de similitud. Artículos coloreados por tema.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834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</a:rPr>
              <a:t>Conclusiones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3246120"/>
            <a:ext cx="8412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</a:rPr>
              <a:t>Pipeline completo reproducible con Docker + Poetry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</a:rPr>
              <a:t>KG construido a partir de NLP + 2 fuentes externas (API OpenAlex + Wikidata SPARQL)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</a:rPr>
              <a:t>Open Science aplicado: PROV, RO-Crate, CFF, CodeMeta, release en Zenodo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</a:rPr>
              <a:t>La app Streamlit consulta el endpoint SPARQL en tiempo real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2" name="Text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github.com/kinib0m-dev/ai-knowledge-graph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Gracias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2C39A"/>
                </a:solidFill>
              </a:rPr>
              <a:t>¿Preguntas?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FB3C8"/>
                </a:solidFill>
              </a:rPr>
              <a:t>github.com/kinib0m-dev/ai-knowledge-graph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474720"/>
            <a:ext cx="8229600" cy="1280160"/>
          </a:xfrm>
          <a:prstGeom prst="rect">
            <a:avLst/>
          </a:prstGeom>
          <a:solidFill>
            <a:srgbClr val="0D2137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7" name="Text 5"/>
          <p:cNvSpPr/>
          <p:nvPr/>
        </p:nvSpPr>
        <p:spPr>
          <a:xfrm>
            <a:off x="594360" y="356616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</a:rPr>
              <a:t>30 papers  </a:t>
            </a:r>
            <a:r>
              <a:rPr lang="en-US" sz="1300" dirty="0">
                <a:solidFill>
                  <a:srgbClr val="7FB3C8"/>
                </a:solidFill>
              </a:rPr>
              <a:t>·  </a:t>
            </a:r>
            <a:r>
              <a:rPr lang="en-US" sz="1300" b="1" dirty="0">
                <a:solidFill>
                  <a:srgbClr val="02C39A"/>
                </a:solidFill>
              </a:rPr>
              <a:t>2,151 triples RDF  </a:t>
            </a:r>
            <a:r>
              <a:rPr lang="en-US" sz="1300" dirty="0">
                <a:solidFill>
                  <a:srgbClr val="7FB3C8"/>
                </a:solidFill>
              </a:rPr>
              <a:t>·  </a:t>
            </a:r>
            <a:r>
              <a:rPr lang="en-US" sz="1300" b="1" dirty="0">
                <a:solidFill>
                  <a:srgbClr val="02C39A"/>
                </a:solidFill>
              </a:rPr>
              <a:t>178 similar pairs  </a:t>
            </a:r>
            <a:r>
              <a:rPr lang="en-US" sz="1300" dirty="0">
                <a:solidFill>
                  <a:srgbClr val="7FB3C8"/>
                </a:solidFill>
              </a:rPr>
              <a:t>·  </a:t>
            </a:r>
            <a:r>
              <a:rPr lang="en-US" sz="1300" b="1" dirty="0">
                <a:solidFill>
                  <a:srgbClr val="02C39A"/>
                </a:solidFill>
              </a:rPr>
              <a:t>6 grupos temáticos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40233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B3C8"/>
                </a:solidFill>
              </a:rPr>
              <a:t>NER · Modelado de temas · Similitud semántica · OpenAlex · Wikidata · PROV · RO-Crate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990</Words>
  <Application>Microsoft Macintosh PowerPoint</Application>
  <PresentationFormat>On-screen Show (16:9)</PresentationFormat>
  <Paragraphs>160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Diego Garcia</cp:lastModifiedBy>
  <cp:revision>4</cp:revision>
  <dcterms:created xsi:type="dcterms:W3CDTF">2026-05-26T09:27:42Z</dcterms:created>
  <dcterms:modified xsi:type="dcterms:W3CDTF">2026-05-26T13:58:33Z</dcterms:modified>
</cp:coreProperties>
</file>